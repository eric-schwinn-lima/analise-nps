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</p:sldMasterIdLst>
  <p:sldIdLst>
    <p:sldId id="256" r:id="rId2"/>
    <p:sldId id="263" r:id="rId3"/>
    <p:sldId id="265" r:id="rId4"/>
    <p:sldId id="266" r:id="rId5"/>
    <p:sldId id="268" r:id="rId6"/>
    <p:sldId id="269" r:id="rId7"/>
    <p:sldId id="271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40" autoAdjust="0"/>
  </p:normalViewPr>
  <p:slideViewPr>
    <p:cSldViewPr snapToGrid="0">
      <p:cViewPr varScale="1">
        <p:scale>
          <a:sx n="113" d="100"/>
          <a:sy n="113" d="100"/>
        </p:scale>
        <p:origin x="45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BE232-1CF2-E7AE-7028-F91BA7F65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F957EF-C427-0E2D-D979-8F35F9A95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348DFE-1B3D-7BF0-1DFF-3B3DF931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7610-A9A9-495D-8CF9-D3D6A85018F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583CE-2B1B-2254-8417-A0FF37147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38FA9D-DDFC-0FE5-0802-C2C590CA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00D4D-861A-4AE8-BB07-3930F9E10C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085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40B37-F5DB-4A43-916A-2B1C97DA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7A0018-3323-821C-7883-D1352E8E4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6BD3B6-F6F2-E48E-13F5-85D43DFA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7610-A9A9-495D-8CF9-D3D6A85018F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F95FA3-B453-87D1-A61C-076610804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2823D4-C54B-88B3-AF15-8490F883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00D4D-861A-4AE8-BB07-3930F9E10C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804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936D6-C646-81C1-9B8F-7FA7E6DE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3CF3B8-9F42-71A7-4151-7B6DD80C9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1BDD70-CAFB-6E4F-4184-73C927C4A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7610-A9A9-495D-8CF9-D3D6A85018F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61EEF0-9FDC-5C44-9663-AB5A670C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8E9849-0551-D1F6-2B04-D56408E7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00D4D-861A-4AE8-BB07-3930F9E10C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78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F3D59-211E-DAD1-F45B-29E7BA581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32C3BD-8DF5-FC07-FA0B-31ADEDF6B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85F3CD-5392-ED4E-06AB-30EADE5A6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E6BBDC-C63F-BFDD-5E47-7F392881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7610-A9A9-495D-8CF9-D3D6A85018F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C84C9E-902E-2BFB-8637-4FF75F33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E70916-3ACD-FA1C-6B7C-329F4B4B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00D4D-861A-4AE8-BB07-3930F9E10C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54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A35AAE-C250-6F73-58A0-2799D8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BE20E2-CD51-C2ED-205E-8DF2E1828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A61FDE-8519-1023-5AB0-8777A349E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CFD4FDF-A22A-7AF5-FE75-2BA0FBD606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010115-36AF-B54A-2F88-2C92E849A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25D3190-7280-255E-5578-1722C61F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7610-A9A9-495D-8CF9-D3D6A85018F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98E6F5-05D4-7B04-D06A-C92EB0851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4AC2D6D-6B11-8429-15D4-DE264C7C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00D4D-861A-4AE8-BB07-3930F9E10C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523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A2CAF-C7EE-D585-E5B7-DEBBA43C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C482527-0FA0-04C0-C5EA-DE8D66905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7610-A9A9-495D-8CF9-D3D6A85018F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80614B0-B4F2-A2EF-AA5B-DBCF0B31C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207C3DD-AF72-FB7A-6B1D-D745A7B1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00D4D-861A-4AE8-BB07-3930F9E10C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76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35A3B23-33DC-157F-5C73-1418BDB86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7610-A9A9-495D-8CF9-D3D6A85018F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6E180D-5641-D638-0E20-C0AA1920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DE2FE5-F341-E298-79AB-3757060D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00D4D-861A-4AE8-BB07-3930F9E10C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684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1877E-CC30-075F-4AC3-657057476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13C2D9-199B-3005-B88C-8682FE685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21EEEA-2BBC-BA97-5A4E-936F3C57A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7DFA8C-FB12-E388-18B2-6339E83A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7610-A9A9-495D-8CF9-D3D6A85018F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4FB48B-157E-9103-C45D-81AB839B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1CBAA8-F22B-E0F6-92BE-57389695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00D4D-861A-4AE8-BB07-3930F9E10C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237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0553C-380E-76B6-6006-886325E4D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7DF8269-F5A0-C428-DEA9-71C711AAE4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0E8472-C368-9C93-269A-8F7FE314E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3A164-FE69-13C3-F525-F505B3C1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7610-A9A9-495D-8CF9-D3D6A85018F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581A4E-03C4-D025-AB80-5957225E5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E6D730-A85E-A256-2EE6-4DA7F7DF3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00D4D-861A-4AE8-BB07-3930F9E10C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752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F6243-D831-ACCC-F9F6-A3FEE966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BACD57-CDDE-91A3-91AA-146746C73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0B440A-EE15-3604-ADA0-270A39665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7610-A9A9-495D-8CF9-D3D6A85018F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5F1ED-BD96-D490-940F-6C1E9475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31176B-B6BF-9680-5DAE-4D780624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00D4D-861A-4AE8-BB07-3930F9E10C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580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C78711E-1EF7-0EFE-F5C5-EA1E79CC5C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6447E9-2BE9-1D71-89B8-6666BEE14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3E4BA9-171B-74A8-F67B-E03FBF620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7610-A9A9-495D-8CF9-D3D6A85018F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0019B-7EC9-62A9-D1FA-7024F4CA6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1E7E92-5281-B509-5C1B-E97854EA7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00D4D-861A-4AE8-BB07-3930F9E10C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110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2D3DDB3-C84E-4086-E83B-40F2F4B8E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9C8690-7C15-9C7D-C3DF-3E2EA329A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A50F24-3CB9-6AD0-A42A-75608E0109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87610-A9A9-495D-8CF9-D3D6A85018F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EF599D-92B5-08DB-DE6D-B7140C38E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11A050-DDB5-38DD-584A-EB1FB0805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00D4D-861A-4AE8-BB07-3930F9E10C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772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F4309-B21F-3726-CF12-719F80B6FC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BA86D7-655D-B15E-20CE-2254EC1E9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42C5135-8EB8-501A-3EF1-B86BB6D2244D}"/>
              </a:ext>
            </a:extLst>
          </p:cNvPr>
          <p:cNvSpPr/>
          <p:nvPr/>
        </p:nvSpPr>
        <p:spPr>
          <a:xfrm>
            <a:off x="-32657" y="5087"/>
            <a:ext cx="12257314" cy="719390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FE3CD82-5C74-EBFA-10BC-8089BAB428D0}"/>
              </a:ext>
            </a:extLst>
          </p:cNvPr>
          <p:cNvSpPr txBox="1">
            <a:spLocks/>
          </p:cNvSpPr>
          <p:nvPr/>
        </p:nvSpPr>
        <p:spPr>
          <a:xfrm>
            <a:off x="2008479" y="3602038"/>
            <a:ext cx="8175042" cy="3272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b="1" dirty="0">
                <a:solidFill>
                  <a:schemeClr val="bg1"/>
                </a:solidFill>
                <a:latin typeface="Arial Black" panose="020B0A04020102020204" pitchFamily="34" charset="0"/>
              </a:rPr>
              <a:t>NPS PREDITIVO </a:t>
            </a:r>
          </a:p>
          <a:p>
            <a:r>
              <a:rPr lang="pt-BR" sz="5400" b="1" dirty="0">
                <a:solidFill>
                  <a:schemeClr val="bg1"/>
                </a:solidFill>
                <a:latin typeface="Arial Black" panose="020B0A04020102020204" pitchFamily="34" charset="0"/>
              </a:rPr>
              <a:t> TECH CHALLENGE 1</a:t>
            </a:r>
          </a:p>
        </p:txBody>
      </p:sp>
    </p:spTree>
    <p:extLst>
      <p:ext uri="{BB962C8B-B14F-4D97-AF65-F5344CB8AC3E}">
        <p14:creationId xmlns:p14="http://schemas.microsoft.com/office/powerpoint/2010/main" val="455992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9AD433E-3A5F-8993-E6E9-7A549E717BAB}"/>
              </a:ext>
            </a:extLst>
          </p:cNvPr>
          <p:cNvSpPr/>
          <p:nvPr/>
        </p:nvSpPr>
        <p:spPr>
          <a:xfrm>
            <a:off x="2368550" y="371475"/>
            <a:ext cx="7454900" cy="119750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75FB2A-14FB-4124-24D4-096E25D92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0" y="806620"/>
            <a:ext cx="8432800" cy="327213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CONTEXTO DO PROBLEMA DE NEGÓCIO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C0B3BB-A1E8-0860-BBB2-B741FF2AC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958" y="2796987"/>
            <a:ext cx="2525184" cy="153644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200" dirty="0"/>
              <a:t>O número de possíveis clientes aumentou, mas a retenção depende da experiência do cliente com o e-commerce.</a:t>
            </a:r>
          </a:p>
          <a:p>
            <a:pPr marL="0" indent="0" algn="just">
              <a:buNone/>
            </a:pPr>
            <a:r>
              <a:rPr lang="pt-BR" sz="1200" dirty="0"/>
              <a:t>O NPS será o responsável por traduzir a satisfação dos clientes.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C7D88FB-09A9-5506-62D0-552864CB1552}"/>
              </a:ext>
            </a:extLst>
          </p:cNvPr>
          <p:cNvSpPr/>
          <p:nvPr/>
        </p:nvSpPr>
        <p:spPr>
          <a:xfrm>
            <a:off x="1105958" y="2004123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3BAE557-ED8A-D733-E467-BF8F2FC839C7}"/>
              </a:ext>
            </a:extLst>
          </p:cNvPr>
          <p:cNvSpPr/>
          <p:nvPr/>
        </p:nvSpPr>
        <p:spPr>
          <a:xfrm>
            <a:off x="4833408" y="2004124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7A2B868-5686-6F0B-658E-3F32FB7895F9}"/>
              </a:ext>
            </a:extLst>
          </p:cNvPr>
          <p:cNvSpPr/>
          <p:nvPr/>
        </p:nvSpPr>
        <p:spPr>
          <a:xfrm>
            <a:off x="8560858" y="2004124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F2C8C9C-CC58-FC5F-7E61-A2D09D47B59C}"/>
              </a:ext>
            </a:extLst>
          </p:cNvPr>
          <p:cNvSpPr txBox="1">
            <a:spLocks/>
          </p:cNvSpPr>
          <p:nvPr/>
        </p:nvSpPr>
        <p:spPr>
          <a:xfrm>
            <a:off x="865716" y="2197353"/>
            <a:ext cx="3005667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CENÁRIO</a:t>
            </a:r>
            <a:endParaRPr lang="pt-BR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6F51589-39B0-B5D9-6D06-3B7F8F3D263F}"/>
              </a:ext>
            </a:extLst>
          </p:cNvPr>
          <p:cNvSpPr txBox="1">
            <a:spLocks/>
          </p:cNvSpPr>
          <p:nvPr/>
        </p:nvSpPr>
        <p:spPr>
          <a:xfrm>
            <a:off x="8320617" y="2197353"/>
            <a:ext cx="3005667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IMPORTÂNCIA</a:t>
            </a:r>
            <a:endParaRPr lang="pt-BR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E52C1BB-BF94-8118-6716-A0E8107C5EA8}"/>
              </a:ext>
            </a:extLst>
          </p:cNvPr>
          <p:cNvSpPr txBox="1">
            <a:spLocks/>
          </p:cNvSpPr>
          <p:nvPr/>
        </p:nvSpPr>
        <p:spPr>
          <a:xfrm>
            <a:off x="4593166" y="2197353"/>
            <a:ext cx="3005667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DESAFIO</a:t>
            </a:r>
            <a:endParaRPr lang="pt-BR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018AD2A-55D8-7779-1625-13CC29BED377}"/>
              </a:ext>
            </a:extLst>
          </p:cNvPr>
          <p:cNvSpPr/>
          <p:nvPr/>
        </p:nvSpPr>
        <p:spPr>
          <a:xfrm>
            <a:off x="1105957" y="2002625"/>
            <a:ext cx="2525184" cy="2247642"/>
          </a:xfrm>
          <a:prstGeom prst="roundRect">
            <a:avLst/>
          </a:prstGeom>
          <a:noFill/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5462E10D-B68E-CDD8-66C7-47F017844E04}"/>
              </a:ext>
            </a:extLst>
          </p:cNvPr>
          <p:cNvSpPr txBox="1">
            <a:spLocks/>
          </p:cNvSpPr>
          <p:nvPr/>
        </p:nvSpPr>
        <p:spPr>
          <a:xfrm>
            <a:off x="4833408" y="2801018"/>
            <a:ext cx="2525184" cy="15364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pt-BR" sz="1200" dirty="0"/>
              <a:t>Identificar clientes satisfeitos, que seriam os promotores e promoveriam a marca, e também, identificar clientes insatisfeitos, que seriam considerados detratores com potencial de prejudicar a reputação.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pt-BR" sz="1200" dirty="0"/>
              <a:t>Entender o que ocasiona os diferentes perfis de clientes.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3BCA029B-4D7E-03DE-69AB-4FD6D6D82584}"/>
              </a:ext>
            </a:extLst>
          </p:cNvPr>
          <p:cNvSpPr txBox="1">
            <a:spLocks/>
          </p:cNvSpPr>
          <p:nvPr/>
        </p:nvSpPr>
        <p:spPr>
          <a:xfrm>
            <a:off x="8560858" y="2796987"/>
            <a:ext cx="2525184" cy="15364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pt-BR" sz="1200" dirty="0"/>
              <a:t>Identificar e corrigir gargalos no processo operacional que possam estar causando insatisfação para os clientes.</a:t>
            </a:r>
          </a:p>
        </p:txBody>
      </p:sp>
    </p:spTree>
    <p:extLst>
      <p:ext uri="{BB962C8B-B14F-4D97-AF65-F5344CB8AC3E}">
        <p14:creationId xmlns:p14="http://schemas.microsoft.com/office/powerpoint/2010/main" val="440873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26C93-A147-C175-D43A-BA89BB3D8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F05B99D-B954-A92D-069E-6D2A87D27DDA}"/>
              </a:ext>
            </a:extLst>
          </p:cNvPr>
          <p:cNvSpPr/>
          <p:nvPr/>
        </p:nvSpPr>
        <p:spPr>
          <a:xfrm>
            <a:off x="2368550" y="371475"/>
            <a:ext cx="7454900" cy="119750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09BF36-9968-13C2-DBCA-1AA812F7C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550" y="806620"/>
            <a:ext cx="7454900" cy="327213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PERGUNTA QUE A ANÁLISE BUSCA RESPONDER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380A49-FAC5-BC75-9E4D-5F1642195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3408" y="2798485"/>
            <a:ext cx="2525184" cy="153644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200" dirty="0"/>
              <a:t>Qual é a etapa do processo de venda até a entrega no cliente final que tem influenciado nas avaliações dos clientes.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41263D6-5081-A361-0FD8-B0C1D7C200B2}"/>
              </a:ext>
            </a:extLst>
          </p:cNvPr>
          <p:cNvSpPr/>
          <p:nvPr/>
        </p:nvSpPr>
        <p:spPr>
          <a:xfrm>
            <a:off x="4833408" y="2002625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53C9087-D542-67A3-15EE-762397B2420A}"/>
              </a:ext>
            </a:extLst>
          </p:cNvPr>
          <p:cNvSpPr txBox="1">
            <a:spLocks/>
          </p:cNvSpPr>
          <p:nvPr/>
        </p:nvSpPr>
        <p:spPr>
          <a:xfrm>
            <a:off x="4833408" y="2195855"/>
            <a:ext cx="2525184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PERGUNTA</a:t>
            </a:r>
            <a:endParaRPr lang="pt-BR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4D0463B-0EC0-7F25-6B10-99708694A1F2}"/>
              </a:ext>
            </a:extLst>
          </p:cNvPr>
          <p:cNvSpPr/>
          <p:nvPr/>
        </p:nvSpPr>
        <p:spPr>
          <a:xfrm>
            <a:off x="1105957" y="2002625"/>
            <a:ext cx="2525184" cy="2247642"/>
          </a:xfrm>
          <a:prstGeom prst="roundRect">
            <a:avLst/>
          </a:prstGeom>
          <a:noFill/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13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B366-0617-CD7C-0D04-34F3D94E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62DDB63-92A0-405E-B4A8-E6F38B4F14BD}"/>
              </a:ext>
            </a:extLst>
          </p:cNvPr>
          <p:cNvSpPr/>
          <p:nvPr/>
        </p:nvSpPr>
        <p:spPr>
          <a:xfrm>
            <a:off x="2368550" y="371475"/>
            <a:ext cx="7454900" cy="119750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C89067-AD7E-8C5C-EBBE-FC5AB7BC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550" y="806620"/>
            <a:ext cx="7454900" cy="327213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PRINCIPAIS INSIGHTS DA EDA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912B85-0C78-18DE-57F4-F70036518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957" y="2660776"/>
            <a:ext cx="2525184" cy="153644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200" dirty="0"/>
              <a:t>O fator que mais influencia na satisfação dos clientes, é o cumprimento do prazo de entrega das mercadorias.</a:t>
            </a:r>
          </a:p>
          <a:p>
            <a:pPr marL="0" indent="0" algn="just">
              <a:buNone/>
            </a:pPr>
            <a:r>
              <a:rPr lang="pt-BR" sz="1200" dirty="0"/>
              <a:t>A partir de um dia de atraso, a maioria dos clientes se torna um detrator.</a:t>
            </a:r>
          </a:p>
          <a:p>
            <a:pPr marL="0" indent="0" algn="just">
              <a:buNone/>
            </a:pPr>
            <a:endParaRPr lang="pt-BR" sz="120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1980922-213C-3B09-01E9-5D4C0A78B2BE}"/>
              </a:ext>
            </a:extLst>
          </p:cNvPr>
          <p:cNvSpPr/>
          <p:nvPr/>
        </p:nvSpPr>
        <p:spPr>
          <a:xfrm>
            <a:off x="1105957" y="1839017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F62F8E0-48AE-8FC0-CDBB-BC0ADF591707}"/>
              </a:ext>
            </a:extLst>
          </p:cNvPr>
          <p:cNvSpPr txBox="1">
            <a:spLocks/>
          </p:cNvSpPr>
          <p:nvPr/>
        </p:nvSpPr>
        <p:spPr>
          <a:xfrm>
            <a:off x="1105957" y="2032247"/>
            <a:ext cx="2525184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PRAZO DE ENTREGA</a:t>
            </a:r>
            <a:endParaRPr lang="pt-BR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9A485DB-F9C6-D3F2-B3CC-E938C5C371FF}"/>
              </a:ext>
            </a:extLst>
          </p:cNvPr>
          <p:cNvSpPr/>
          <p:nvPr/>
        </p:nvSpPr>
        <p:spPr>
          <a:xfrm>
            <a:off x="1105957" y="2002625"/>
            <a:ext cx="2525184" cy="2247642"/>
          </a:xfrm>
          <a:prstGeom prst="roundRect">
            <a:avLst/>
          </a:prstGeom>
          <a:noFill/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B0683B8-C87E-E770-D564-70F3B0D6C82D}"/>
              </a:ext>
            </a:extLst>
          </p:cNvPr>
          <p:cNvSpPr/>
          <p:nvPr/>
        </p:nvSpPr>
        <p:spPr>
          <a:xfrm>
            <a:off x="8560858" y="1839015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1F711C10-0376-076C-358A-D80FCC31C02E}"/>
              </a:ext>
            </a:extLst>
          </p:cNvPr>
          <p:cNvSpPr txBox="1">
            <a:spLocks/>
          </p:cNvSpPr>
          <p:nvPr/>
        </p:nvSpPr>
        <p:spPr>
          <a:xfrm>
            <a:off x="8560858" y="2047010"/>
            <a:ext cx="2525184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CONTATOS SAC</a:t>
            </a:r>
            <a:endParaRPr lang="pt-BR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FB015C5A-ADF8-5760-3127-CC037A9CE437}"/>
              </a:ext>
            </a:extLst>
          </p:cNvPr>
          <p:cNvSpPr txBox="1">
            <a:spLocks/>
          </p:cNvSpPr>
          <p:nvPr/>
        </p:nvSpPr>
        <p:spPr>
          <a:xfrm>
            <a:off x="8560858" y="2660776"/>
            <a:ext cx="2525184" cy="15364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Contatos repetidos com o atendimento também derrubam o NPS de forma consistente. Isso sugere que precisar contatar o atendimento mais de uma vez, já é, por si só, um sinal de experiência ruim.</a:t>
            </a:r>
            <a:endParaRPr lang="pt-BR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pt-BR" sz="1200" dirty="0"/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5EEA0E52-A551-8F71-08F6-647BE43C9338}"/>
              </a:ext>
            </a:extLst>
          </p:cNvPr>
          <p:cNvSpPr txBox="1">
            <a:spLocks/>
          </p:cNvSpPr>
          <p:nvPr/>
        </p:nvSpPr>
        <p:spPr>
          <a:xfrm>
            <a:off x="4833407" y="2660774"/>
            <a:ext cx="2525184" cy="15364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pt-BR" sz="1200" dirty="0"/>
              <a:t>Analisando os diferentes perfis, considerando faixa etária, região e o tempo como cliente, chegamos a conclusão de que não existem perfis de clientes que se sobressaem.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pt-BR" sz="1200" dirty="0"/>
              <a:t>Os baixos índices de satisfação estão totalmente relacionados ao processo operacional.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pt-BR" sz="1200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FB92B14-59E0-B442-420D-0BCA2662BAC2}"/>
              </a:ext>
            </a:extLst>
          </p:cNvPr>
          <p:cNvSpPr/>
          <p:nvPr/>
        </p:nvSpPr>
        <p:spPr>
          <a:xfrm>
            <a:off x="4833407" y="1839015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B86446A7-B6DD-340C-AF54-FE73AD0BA407}"/>
              </a:ext>
            </a:extLst>
          </p:cNvPr>
          <p:cNvSpPr txBox="1">
            <a:spLocks/>
          </p:cNvSpPr>
          <p:nvPr/>
        </p:nvSpPr>
        <p:spPr>
          <a:xfrm>
            <a:off x="4833407" y="2032245"/>
            <a:ext cx="2525184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PERFIS DE CLIENTES</a:t>
            </a:r>
            <a:endParaRPr lang="pt-BR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85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6AAD8-B333-3199-5C7F-34EEC03F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A3CA2DA-7BD6-4081-8B3D-323C6ABB3FA0}"/>
              </a:ext>
            </a:extLst>
          </p:cNvPr>
          <p:cNvSpPr/>
          <p:nvPr/>
        </p:nvSpPr>
        <p:spPr>
          <a:xfrm>
            <a:off x="2368550" y="371475"/>
            <a:ext cx="7454900" cy="119750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83B24E-AE6B-889E-09B3-9FE3E3540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550" y="806620"/>
            <a:ext cx="7454900" cy="327213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FATORES COM MAIOR IMPACTO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29AB3C-FAB8-EB74-D0D3-D545669AB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8919" y="5023496"/>
            <a:ext cx="4661937" cy="71367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endParaRPr lang="pt-BR" sz="1200" b="1" dirty="0"/>
          </a:p>
          <a:p>
            <a:pPr marL="0" indent="0" algn="ctr">
              <a:buNone/>
            </a:pPr>
            <a:r>
              <a:rPr lang="pt-BR" sz="1200" b="1" dirty="0"/>
              <a:t>IMPACTO: MÉDIO</a:t>
            </a:r>
          </a:p>
          <a:p>
            <a:pPr marL="0" indent="0" algn="just">
              <a:buNone/>
            </a:pPr>
            <a:endParaRPr lang="pt-BR" sz="120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0FE7AB8-4993-E7DE-DFEB-C9542DCACDFF}"/>
              </a:ext>
            </a:extLst>
          </p:cNvPr>
          <p:cNvSpPr/>
          <p:nvPr/>
        </p:nvSpPr>
        <p:spPr>
          <a:xfrm>
            <a:off x="1105956" y="2096492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B030B8D-FC05-02F2-7748-FAFB7F95302B}"/>
              </a:ext>
            </a:extLst>
          </p:cNvPr>
          <p:cNvSpPr txBox="1">
            <a:spLocks/>
          </p:cNvSpPr>
          <p:nvPr/>
        </p:nvSpPr>
        <p:spPr>
          <a:xfrm>
            <a:off x="1105956" y="2289722"/>
            <a:ext cx="2525184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DIAS DE ATRASO DA ENTREGA</a:t>
            </a:r>
            <a:endParaRPr lang="pt-BR" sz="1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67826EF-F7CE-C736-5F25-76A4EDB28E2D}"/>
              </a:ext>
            </a:extLst>
          </p:cNvPr>
          <p:cNvSpPr/>
          <p:nvPr/>
        </p:nvSpPr>
        <p:spPr>
          <a:xfrm>
            <a:off x="1105957" y="2002625"/>
            <a:ext cx="2525184" cy="2247642"/>
          </a:xfrm>
          <a:prstGeom prst="roundRect">
            <a:avLst/>
          </a:prstGeom>
          <a:noFill/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29489F9-02F3-AE2D-D4C2-34AF4103FCA0}"/>
              </a:ext>
            </a:extLst>
          </p:cNvPr>
          <p:cNvSpPr/>
          <p:nvPr/>
        </p:nvSpPr>
        <p:spPr>
          <a:xfrm>
            <a:off x="1105956" y="4047828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C123320-FFAD-EB4A-DC91-48272024F7C3}"/>
              </a:ext>
            </a:extLst>
          </p:cNvPr>
          <p:cNvSpPr txBox="1">
            <a:spLocks/>
          </p:cNvSpPr>
          <p:nvPr/>
        </p:nvSpPr>
        <p:spPr>
          <a:xfrm>
            <a:off x="8560858" y="2047010"/>
            <a:ext cx="2525184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CONTATOS SAC</a:t>
            </a:r>
            <a:endParaRPr lang="pt-BR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87ED0419-A655-5F5F-2AE2-F156EA131D3E}"/>
              </a:ext>
            </a:extLst>
          </p:cNvPr>
          <p:cNvSpPr txBox="1">
            <a:spLocks/>
          </p:cNvSpPr>
          <p:nvPr/>
        </p:nvSpPr>
        <p:spPr>
          <a:xfrm>
            <a:off x="3898918" y="3134225"/>
            <a:ext cx="4661936" cy="65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sz="1200" b="1" dirty="0"/>
          </a:p>
          <a:p>
            <a:pPr marL="0" indent="0" algn="ctr">
              <a:buNone/>
            </a:pPr>
            <a:r>
              <a:rPr lang="pt-BR" sz="1200" b="1" dirty="0"/>
              <a:t>IMPACTO: ALTO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D518B462-61CB-99CD-3FE8-D9745840AA02}"/>
              </a:ext>
            </a:extLst>
          </p:cNvPr>
          <p:cNvSpPr txBox="1">
            <a:spLocks/>
          </p:cNvSpPr>
          <p:nvPr/>
        </p:nvSpPr>
        <p:spPr>
          <a:xfrm>
            <a:off x="3898918" y="2080437"/>
            <a:ext cx="4661938" cy="7245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pt-BR" sz="1200" b="1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pt-BR" sz="1200" b="1" dirty="0"/>
              <a:t>IMPACTO: ALTO/CRÍTICO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2CAEAA1-CEDC-D393-D41F-448421AFA21F}"/>
              </a:ext>
            </a:extLst>
          </p:cNvPr>
          <p:cNvSpPr/>
          <p:nvPr/>
        </p:nvSpPr>
        <p:spPr>
          <a:xfrm>
            <a:off x="1105956" y="3072160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BF08357-0792-B5C7-B0F9-C474F172549F}"/>
              </a:ext>
            </a:extLst>
          </p:cNvPr>
          <p:cNvSpPr txBox="1">
            <a:spLocks/>
          </p:cNvSpPr>
          <p:nvPr/>
        </p:nvSpPr>
        <p:spPr>
          <a:xfrm>
            <a:off x="1105956" y="3308149"/>
            <a:ext cx="2525184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CONTATOS COM O ATENDIMENTO</a:t>
            </a:r>
            <a:endParaRPr lang="pt-BR" sz="1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EB776EE-E977-F8B7-07CC-B6FA6B9C26E4}"/>
              </a:ext>
            </a:extLst>
          </p:cNvPr>
          <p:cNvSpPr txBox="1">
            <a:spLocks/>
          </p:cNvSpPr>
          <p:nvPr/>
        </p:nvSpPr>
        <p:spPr>
          <a:xfrm>
            <a:off x="1105956" y="4241056"/>
            <a:ext cx="2525184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QUANTIDADE DE RECLAMAÇÕES</a:t>
            </a:r>
            <a:endParaRPr lang="pt-BR" sz="1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A78F540-E113-926A-BB03-5DC566EE086D}"/>
              </a:ext>
            </a:extLst>
          </p:cNvPr>
          <p:cNvSpPr/>
          <p:nvPr/>
        </p:nvSpPr>
        <p:spPr>
          <a:xfrm>
            <a:off x="1105956" y="5023496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Arial Black" panose="020B0A04020102020204" pitchFamily="34" charset="0"/>
              </a:rPr>
              <a:t>TEMPO DE RESOLUÇÃO</a:t>
            </a:r>
            <a:endParaRPr lang="pt-BR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5D009BA2-CA17-2766-816D-F0A7F817A01C}"/>
              </a:ext>
            </a:extLst>
          </p:cNvPr>
          <p:cNvSpPr txBox="1">
            <a:spLocks/>
          </p:cNvSpPr>
          <p:nvPr/>
        </p:nvSpPr>
        <p:spPr>
          <a:xfrm>
            <a:off x="3898918" y="4078860"/>
            <a:ext cx="4661936" cy="65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sz="1200" b="1" dirty="0"/>
          </a:p>
          <a:p>
            <a:pPr marL="0" indent="0" algn="ctr">
              <a:buNone/>
            </a:pPr>
            <a:r>
              <a:rPr lang="pt-BR" sz="1200" b="1" dirty="0"/>
              <a:t>IMPACTO: ALTO</a:t>
            </a:r>
          </a:p>
        </p:txBody>
      </p: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C3013A88-205C-9204-DE3F-14E830223515}"/>
              </a:ext>
            </a:extLst>
          </p:cNvPr>
          <p:cNvSpPr/>
          <p:nvPr/>
        </p:nvSpPr>
        <p:spPr>
          <a:xfrm>
            <a:off x="7520473" y="2289722"/>
            <a:ext cx="354564" cy="409356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: para Baixo 18">
            <a:extLst>
              <a:ext uri="{FF2B5EF4-FFF2-40B4-BE49-F238E27FC236}">
                <a16:creationId xmlns:a16="http://schemas.microsoft.com/office/drawing/2014/main" id="{5CEA128B-F168-B25F-2830-CD8835689309}"/>
              </a:ext>
            </a:extLst>
          </p:cNvPr>
          <p:cNvSpPr/>
          <p:nvPr/>
        </p:nvSpPr>
        <p:spPr>
          <a:xfrm>
            <a:off x="7520473" y="3285354"/>
            <a:ext cx="354564" cy="409356"/>
          </a:xfrm>
          <a:prstGeom prst="downArrow">
            <a:avLst/>
          </a:prstGeom>
          <a:solidFill>
            <a:srgbClr val="FF4F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: para Baixo 19">
            <a:extLst>
              <a:ext uri="{FF2B5EF4-FFF2-40B4-BE49-F238E27FC236}">
                <a16:creationId xmlns:a16="http://schemas.microsoft.com/office/drawing/2014/main" id="{1DA69E7F-6093-0273-1684-17CADFA7918E}"/>
              </a:ext>
            </a:extLst>
          </p:cNvPr>
          <p:cNvSpPr/>
          <p:nvPr/>
        </p:nvSpPr>
        <p:spPr>
          <a:xfrm>
            <a:off x="7520473" y="4241056"/>
            <a:ext cx="354564" cy="409356"/>
          </a:xfrm>
          <a:prstGeom prst="downArrow">
            <a:avLst/>
          </a:prstGeom>
          <a:solidFill>
            <a:srgbClr val="FF4F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B378E271-5FAC-584B-107A-FE4082D11C11}"/>
              </a:ext>
            </a:extLst>
          </p:cNvPr>
          <p:cNvSpPr/>
          <p:nvPr/>
        </p:nvSpPr>
        <p:spPr>
          <a:xfrm>
            <a:off x="7520473" y="5175655"/>
            <a:ext cx="354564" cy="409356"/>
          </a:xfrm>
          <a:prstGeom prst="downArrow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085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0427-F939-DB01-03B5-54D4ACDD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42DFE16-9BF7-56F4-483D-3C5042A34EEF}"/>
              </a:ext>
            </a:extLst>
          </p:cNvPr>
          <p:cNvSpPr/>
          <p:nvPr/>
        </p:nvSpPr>
        <p:spPr>
          <a:xfrm>
            <a:off x="2368550" y="371475"/>
            <a:ext cx="7454900" cy="119750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C3A7E2-C762-4237-43C4-88225584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550" y="806620"/>
            <a:ext cx="7454900" cy="327213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RECOMENDAÇÕES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D0CC74-5C2F-AFD4-3D67-8B9DEADE1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957" y="2660776"/>
            <a:ext cx="2525184" cy="153644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200" dirty="0"/>
              <a:t>Analisar e revisar os prazos estabelecidos para garantir assertividade nas entregas.</a:t>
            </a:r>
          </a:p>
          <a:p>
            <a:pPr marL="0" indent="0" algn="just">
              <a:buNone/>
            </a:pPr>
            <a:r>
              <a:rPr lang="pt-BR" sz="1200" dirty="0"/>
              <a:t>Clientes ficam ainda mais satisfeitos caso recebam o produto com antecedência em relação ao prazo programado.</a:t>
            </a:r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848A1EB-A73F-C584-A9B3-D0E5F085129C}"/>
              </a:ext>
            </a:extLst>
          </p:cNvPr>
          <p:cNvSpPr/>
          <p:nvPr/>
        </p:nvSpPr>
        <p:spPr>
          <a:xfrm>
            <a:off x="1105957" y="1839017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3B20CBA-38C3-C393-C527-13536655A2F7}"/>
              </a:ext>
            </a:extLst>
          </p:cNvPr>
          <p:cNvSpPr txBox="1">
            <a:spLocks/>
          </p:cNvSpPr>
          <p:nvPr/>
        </p:nvSpPr>
        <p:spPr>
          <a:xfrm>
            <a:off x="1105957" y="2032247"/>
            <a:ext cx="2525184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REVER OS PRAZOS</a:t>
            </a:r>
            <a:endParaRPr lang="pt-BR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88001AF-4769-D537-E60A-8659BF889A2C}"/>
              </a:ext>
            </a:extLst>
          </p:cNvPr>
          <p:cNvSpPr/>
          <p:nvPr/>
        </p:nvSpPr>
        <p:spPr>
          <a:xfrm>
            <a:off x="1105957" y="2002625"/>
            <a:ext cx="2525184" cy="2247642"/>
          </a:xfrm>
          <a:prstGeom prst="roundRect">
            <a:avLst/>
          </a:prstGeom>
          <a:noFill/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E3B773D-0CF9-041C-AB02-CE1E0BF8D8A2}"/>
              </a:ext>
            </a:extLst>
          </p:cNvPr>
          <p:cNvSpPr/>
          <p:nvPr/>
        </p:nvSpPr>
        <p:spPr>
          <a:xfrm>
            <a:off x="8560858" y="1839015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23A63D6-0A38-D8AD-C1AF-9F24A47FE9FA}"/>
              </a:ext>
            </a:extLst>
          </p:cNvPr>
          <p:cNvSpPr txBox="1">
            <a:spLocks/>
          </p:cNvSpPr>
          <p:nvPr/>
        </p:nvSpPr>
        <p:spPr>
          <a:xfrm>
            <a:off x="8514842" y="2032245"/>
            <a:ext cx="2617215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COMPENSAÇÕES </a:t>
            </a:r>
            <a:endParaRPr lang="pt-BR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2A9A3DEA-532D-CC45-A7E0-CB9546417C5B}"/>
              </a:ext>
            </a:extLst>
          </p:cNvPr>
          <p:cNvSpPr txBox="1">
            <a:spLocks/>
          </p:cNvSpPr>
          <p:nvPr/>
        </p:nvSpPr>
        <p:spPr>
          <a:xfrm>
            <a:off x="8560858" y="2660776"/>
            <a:ext cx="2525184" cy="15364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Oferecer compensações para os clientes, como descontos, ou vouchers, em caso de imprevistos nas entregas.</a:t>
            </a:r>
          </a:p>
          <a:p>
            <a:pPr marL="0" indent="0" algn="just">
              <a:buNone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Embora tenha ocorrido algum problema, o cliente entenderá que a empresa se importa com ele e está tentando compensar transtorno.</a:t>
            </a:r>
            <a:endParaRPr lang="pt-BR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pt-BR" sz="1200" dirty="0"/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5C0C4629-8EDB-D1CF-9B5A-6CDC46FEF0B5}"/>
              </a:ext>
            </a:extLst>
          </p:cNvPr>
          <p:cNvSpPr txBox="1">
            <a:spLocks/>
          </p:cNvSpPr>
          <p:nvPr/>
        </p:nvSpPr>
        <p:spPr>
          <a:xfrm>
            <a:off x="4833407" y="2660774"/>
            <a:ext cx="2525184" cy="15364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pt-BR" sz="1200" dirty="0"/>
              <a:t>Desenvolver um sistema de auto atendimento capaz de resolver os problemas dos clientes no primeiro contato.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pt-BR" sz="1200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524A8E4-CEC7-511C-8211-DEA0918D0709}"/>
              </a:ext>
            </a:extLst>
          </p:cNvPr>
          <p:cNvSpPr/>
          <p:nvPr/>
        </p:nvSpPr>
        <p:spPr>
          <a:xfrm>
            <a:off x="4833407" y="1839015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3433C924-7757-3908-AB32-57073C8CA5FF}"/>
              </a:ext>
            </a:extLst>
          </p:cNvPr>
          <p:cNvSpPr txBox="1">
            <a:spLocks/>
          </p:cNvSpPr>
          <p:nvPr/>
        </p:nvSpPr>
        <p:spPr>
          <a:xfrm>
            <a:off x="4833407" y="2032245"/>
            <a:ext cx="2525184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ATENDIMENTO EFICAZ</a:t>
            </a:r>
            <a:endParaRPr lang="pt-BR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398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FCE28-33EA-E808-F014-A22568E2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32D7231-2542-5FFF-0FE8-7F746442EC6F}"/>
              </a:ext>
            </a:extLst>
          </p:cNvPr>
          <p:cNvSpPr/>
          <p:nvPr/>
        </p:nvSpPr>
        <p:spPr>
          <a:xfrm>
            <a:off x="2368550" y="371475"/>
            <a:ext cx="7454900" cy="119750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608829-2AFE-2E56-B5D7-F2806BFB9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550" y="806620"/>
            <a:ext cx="7454900" cy="327213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LIMITAÇÕES E RISCOS DA ESTRATÉGIA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FDFD30-47BB-3E36-F297-63A485567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957" y="2660776"/>
            <a:ext cx="2525184" cy="153644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200" dirty="0"/>
              <a:t>A empresa deve focar em resolver os problemas logísticos, garantindo assertividade e cumprimento dos prazos, porém não pode deixar que isto influencie na qualidade e integridade do produto transportado.</a:t>
            </a:r>
          </a:p>
          <a:p>
            <a:pPr marL="0" indent="0" algn="just">
              <a:buNone/>
            </a:pPr>
            <a:endParaRPr lang="pt-BR" sz="1200" dirty="0"/>
          </a:p>
          <a:p>
            <a:pPr marL="0" indent="0" algn="just">
              <a:buNone/>
            </a:pPr>
            <a:endParaRPr lang="pt-BR" sz="120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DF42936-0F86-7F56-5A34-6C10E5D988FE}"/>
              </a:ext>
            </a:extLst>
          </p:cNvPr>
          <p:cNvSpPr/>
          <p:nvPr/>
        </p:nvSpPr>
        <p:spPr>
          <a:xfrm>
            <a:off x="1105957" y="1839017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4137B41-C719-25F4-BC41-581FB5715294}"/>
              </a:ext>
            </a:extLst>
          </p:cNvPr>
          <p:cNvSpPr txBox="1">
            <a:spLocks/>
          </p:cNvSpPr>
          <p:nvPr/>
        </p:nvSpPr>
        <p:spPr>
          <a:xfrm>
            <a:off x="1105957" y="2032247"/>
            <a:ext cx="2525184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COMPROMETIMENTO OPERACIONAL</a:t>
            </a:r>
            <a:endParaRPr lang="pt-BR" sz="1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0287216-D4C7-C533-C0A5-83076B78D21F}"/>
              </a:ext>
            </a:extLst>
          </p:cNvPr>
          <p:cNvSpPr/>
          <p:nvPr/>
        </p:nvSpPr>
        <p:spPr>
          <a:xfrm>
            <a:off x="1105957" y="2002625"/>
            <a:ext cx="2525184" cy="2247642"/>
          </a:xfrm>
          <a:prstGeom prst="roundRect">
            <a:avLst/>
          </a:prstGeom>
          <a:noFill/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947F594-1868-0F63-C662-D0E74E7AF100}"/>
              </a:ext>
            </a:extLst>
          </p:cNvPr>
          <p:cNvSpPr/>
          <p:nvPr/>
        </p:nvSpPr>
        <p:spPr>
          <a:xfrm>
            <a:off x="8560858" y="1839015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562F775-68E3-894D-9500-2A75C945EC0E}"/>
              </a:ext>
            </a:extLst>
          </p:cNvPr>
          <p:cNvSpPr txBox="1">
            <a:spLocks/>
          </p:cNvSpPr>
          <p:nvPr/>
        </p:nvSpPr>
        <p:spPr>
          <a:xfrm>
            <a:off x="8514842" y="2032245"/>
            <a:ext cx="2617215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CAMUFLAR COM COMPENSAÇÕES </a:t>
            </a:r>
            <a:endParaRPr lang="pt-BR" sz="1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D974766-B9DC-A1A6-AC16-0A2C4ADA5F87}"/>
              </a:ext>
            </a:extLst>
          </p:cNvPr>
          <p:cNvSpPr txBox="1">
            <a:spLocks/>
          </p:cNvSpPr>
          <p:nvPr/>
        </p:nvSpPr>
        <p:spPr>
          <a:xfrm>
            <a:off x="8560858" y="2660776"/>
            <a:ext cx="2525184" cy="15364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Oferecer compensações para os clientes, pode ser uma forma de manter os clientes como promotores, porém não deve ser deixado de lado o problema real.</a:t>
            </a:r>
          </a:p>
          <a:p>
            <a:pPr marL="0" indent="0" algn="just">
              <a:buNone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Resolver com a compensação, mas deixar a raiz do problema de lado, poderá acarretar em outros problemas.</a:t>
            </a:r>
            <a:endParaRPr lang="pt-BR" sz="1200" dirty="0"/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C083AB0E-BB25-22B7-5682-ABD6DD62A1C5}"/>
              </a:ext>
            </a:extLst>
          </p:cNvPr>
          <p:cNvSpPr txBox="1">
            <a:spLocks/>
          </p:cNvSpPr>
          <p:nvPr/>
        </p:nvSpPr>
        <p:spPr>
          <a:xfrm>
            <a:off x="4833407" y="2660774"/>
            <a:ext cx="2525184" cy="15364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pt-BR" sz="1200" dirty="0"/>
              <a:t>A área de vendas costuma enfrentar algumas variações nos volumes vendidos em determinadas épocas ou estações do ano.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pt-BR" sz="1200" dirty="0"/>
              <a:t>Um aumento atípico na quantidade de vendas pode atrapalhar o processo operacional.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pt-BR" sz="1200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82E2912-6E55-F3B2-8D77-144B8CF47C20}"/>
              </a:ext>
            </a:extLst>
          </p:cNvPr>
          <p:cNvSpPr/>
          <p:nvPr/>
        </p:nvSpPr>
        <p:spPr>
          <a:xfrm>
            <a:off x="4833407" y="1839015"/>
            <a:ext cx="2525184" cy="7136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C6BD3FA0-0507-AC2E-DCBF-CC72D21B7683}"/>
              </a:ext>
            </a:extLst>
          </p:cNvPr>
          <p:cNvSpPr txBox="1">
            <a:spLocks/>
          </p:cNvSpPr>
          <p:nvPr/>
        </p:nvSpPr>
        <p:spPr>
          <a:xfrm>
            <a:off x="4833407" y="2032245"/>
            <a:ext cx="2525184" cy="327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SAZONALIDADE</a:t>
            </a:r>
            <a:endParaRPr lang="pt-BR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7615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513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Tema do Office</vt:lpstr>
      <vt:lpstr>Apresentação do PowerPoint</vt:lpstr>
      <vt:lpstr>CONTEXTO DO PROBLEMA DE NEGÓCIO</vt:lpstr>
      <vt:lpstr>PERGUNTA QUE A ANÁLISE BUSCA RESPONDER</vt:lpstr>
      <vt:lpstr>PRINCIPAIS INSIGHTS DA EDA</vt:lpstr>
      <vt:lpstr>FATORES COM MAIOR IMPACTO</vt:lpstr>
      <vt:lpstr>RECOMENDAÇÕES PRÁTICAS</vt:lpstr>
      <vt:lpstr>LIMITAÇÕES E RISCOS DA ESTRATÉGIA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Lima</dc:creator>
  <cp:lastModifiedBy>Eric Lima</cp:lastModifiedBy>
  <cp:revision>3</cp:revision>
  <dcterms:created xsi:type="dcterms:W3CDTF">2026-08-27T01:28:44Z</dcterms:created>
  <dcterms:modified xsi:type="dcterms:W3CDTF">2026-08-27T04:02:58Z</dcterms:modified>
</cp:coreProperties>
</file>